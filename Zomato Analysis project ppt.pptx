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5" r:id="rId3"/>
    <p:sldId id="276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4" r:id="rId19"/>
    <p:sldId id="273" r:id="rId20"/>
    <p:sldId id="277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2955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C6583-37A4-4009-A578-7F95B0431A79}" v="303" dt="2025-10-30T10:37:22.722"/>
  </p1510:revLst>
</p1510:revInfo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15192916-hand-drawn-lettering-thank-you-gold-phrase-on-black-background-vector-art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14CD-D28A-115B-3610-B85ABB9BE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7008" y="758952"/>
            <a:ext cx="8791575" cy="1984248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400" i="1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Zomato Restaurant Insights Dashboard: </a:t>
            </a:r>
            <a:br>
              <a:rPr lang="en-US" sz="4400" i="1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</a:br>
            <a:r>
              <a:rPr lang="en-US" sz="4400" i="1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A Global Analysis</a:t>
            </a:r>
            <a:endParaRPr lang="en-IN" sz="4400" i="1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834AB-4F7F-88F1-755C-E1E74BBA1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7008" y="3072384"/>
            <a:ext cx="8791575" cy="2679192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en-US" sz="23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</a:rPr>
              <a:t>BY,</a:t>
            </a:r>
          </a:p>
          <a:p>
            <a:r>
              <a:rPr lang="en-IN" sz="23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</a:rPr>
              <a:t>ANURADHA SATHYASHEKAR,</a:t>
            </a:r>
          </a:p>
          <a:p>
            <a:r>
              <a:rPr lang="en-IN" sz="23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</a:rPr>
              <a:t>KURUPATI SOWKHYA, </a:t>
            </a:r>
          </a:p>
          <a:p>
            <a:r>
              <a:rPr lang="en-IN" sz="23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</a:rPr>
              <a:t>ADDANKI VISHNUVARDDHAAN,</a:t>
            </a:r>
          </a:p>
          <a:p>
            <a:r>
              <a:rPr lang="en-IN" sz="23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</a:rPr>
              <a:t>KALIKIVAYEE BHUMIKA, </a:t>
            </a:r>
          </a:p>
          <a:p>
            <a:r>
              <a:rPr lang="en-IN" sz="23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</a:rPr>
              <a:t>KAUKUNTLA VIDYA</a:t>
            </a:r>
          </a:p>
          <a:p>
            <a:r>
              <a:rPr lang="en-US" sz="23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ritannic Bold" panose="020B0903060703020204" pitchFamily="34" charset="0"/>
              </a:rPr>
              <a:t>(GROUP 5)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354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A3883-1C4F-F042-EAF0-62E1DF427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265E6-5843-3CA1-F157-EA691432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4878"/>
            <a:ext cx="4006484" cy="433042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INTRODUCTION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B5A3F-2CEF-00F5-B086-F7AA8C3D7F90}"/>
              </a:ext>
            </a:extLst>
          </p:cNvPr>
          <p:cNvSpPr txBox="1"/>
          <p:nvPr/>
        </p:nvSpPr>
        <p:spPr>
          <a:xfrm>
            <a:off x="731520" y="1234441"/>
            <a:ext cx="109087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Zomato is an Indian-founded online food delivery, restaurant discovery, and table reservation company, established in 2008 by Deepinder Goyal and Pankaj Chaddah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Originally named </a:t>
            </a:r>
            <a:r>
              <a:rPr lang="en-IN" sz="2000" dirty="0" err="1">
                <a:latin typeface="Aptos" panose="020B0004020202020204" pitchFamily="34" charset="0"/>
              </a:rPr>
              <a:t>Foodiebay</a:t>
            </a:r>
            <a:r>
              <a:rPr lang="en-IN" sz="2000" dirty="0">
                <a:latin typeface="Aptos" panose="020B0004020202020204" pitchFamily="34" charset="0"/>
              </a:rPr>
              <a:t>, it rebranded to Zomato in 2010 to expand its scope beyond food.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Today, the company provides a range of services, including online food ordering and delivery.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E255C67-88EC-C98C-CA93-2F68767B7BC5}"/>
              </a:ext>
            </a:extLst>
          </p:cNvPr>
          <p:cNvSpPr txBox="1">
            <a:spLocks/>
          </p:cNvSpPr>
          <p:nvPr/>
        </p:nvSpPr>
        <p:spPr>
          <a:xfrm>
            <a:off x="731520" y="3468047"/>
            <a:ext cx="4006484" cy="433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Objective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26E8D-3E66-35BE-7C0F-E87E121AB7DA}"/>
              </a:ext>
            </a:extLst>
          </p:cNvPr>
          <p:cNvSpPr txBox="1"/>
          <p:nvPr/>
        </p:nvSpPr>
        <p:spPr>
          <a:xfrm>
            <a:off x="731520" y="3901089"/>
            <a:ext cx="10728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To analyse Zomato project performance using data dashboards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To identify success factors in Zomato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To study trends over time (2010–2018) in ZOMATO MARKET AND CONSUMER ANLYSIS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To compare dashboards across tools for visualization and insights.</a:t>
            </a:r>
          </a:p>
        </p:txBody>
      </p:sp>
    </p:spTree>
    <p:extLst>
      <p:ext uri="{BB962C8B-B14F-4D97-AF65-F5344CB8AC3E}">
        <p14:creationId xmlns:p14="http://schemas.microsoft.com/office/powerpoint/2010/main" val="3986241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B234D-DC26-2ACA-35AC-7DC01FAF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0C0D-ABBE-F4C5-76DB-D6DBC88A4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4878"/>
            <a:ext cx="4006484" cy="433042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KPIS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5A566-2DAF-E667-E9FC-7C13DB9FCC89}"/>
              </a:ext>
            </a:extLst>
          </p:cNvPr>
          <p:cNvSpPr txBox="1"/>
          <p:nvPr/>
        </p:nvSpPr>
        <p:spPr>
          <a:xfrm>
            <a:off x="731520" y="1202525"/>
            <a:ext cx="109270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1: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Data Model Building: </a:t>
            </a:r>
            <a:r>
              <a:rPr lang="en-US" sz="2000" dirty="0">
                <a:latin typeface="Aptos" panose="020B0004020202020204" pitchFamily="34" charset="0"/>
              </a:rPr>
              <a:t>Established relationships between tables for seamless analysis.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2: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Calendar Table Creation:</a:t>
            </a:r>
            <a:r>
              <a:rPr lang="en-US" sz="2000" b="1" dirty="0">
                <a:latin typeface="Aptos" panose="020B0004020202020204" pitchFamily="34" charset="0"/>
              </a:rPr>
              <a:t> </a:t>
            </a:r>
            <a:r>
              <a:rPr lang="en-US" sz="2000" dirty="0">
                <a:latin typeface="Aptos" panose="020B0004020202020204" pitchFamily="34" charset="0"/>
              </a:rPr>
              <a:t>Added fields: Year, Month, Quarter, Weekday, Financial Month, and Financial Quarter.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3: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Cost Conversion (Local → USD): </a:t>
            </a:r>
            <a:r>
              <a:rPr lang="en-US" sz="2000" dirty="0">
                <a:latin typeface="Aptos" panose="020B0004020202020204" pitchFamily="34" charset="0"/>
              </a:rPr>
              <a:t>Enabled uniform comparison across all countries.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4: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Restaurants by City &amp; Country: </a:t>
            </a:r>
            <a:r>
              <a:rPr lang="en-US" sz="2000" dirty="0">
                <a:latin typeface="Aptos" panose="020B0004020202020204" pitchFamily="34" charset="0"/>
              </a:rPr>
              <a:t>Counted total restaurants per city and country.</a:t>
            </a:r>
          </a:p>
          <a:p>
            <a:r>
              <a:rPr lang="en-US" sz="2000" dirty="0">
                <a:latin typeface="Aptos" panose="020B0004020202020204" pitchFamily="34" charset="0"/>
              </a:rPr>
              <a:t>Highlighted top-performing regions for business expansion.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5: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Restaurant Openings by Time Period: </a:t>
            </a:r>
            <a:r>
              <a:rPr lang="en-US" sz="2000" dirty="0">
                <a:latin typeface="Aptos" panose="020B0004020202020204" pitchFamily="34" charset="0"/>
              </a:rPr>
              <a:t>Identified restaurant growth trends over time.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6: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Count of Restaurants by Rating: </a:t>
            </a:r>
            <a:r>
              <a:rPr lang="en-US" sz="2000" dirty="0">
                <a:latin typeface="Aptos" panose="020B0004020202020204" pitchFamily="34" charset="0"/>
              </a:rPr>
              <a:t>Showed distribution of high, medium, and low-rated restaurants.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7: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Price Buckets Analysis: </a:t>
            </a:r>
            <a:r>
              <a:rPr lang="en-US" sz="2000" dirty="0">
                <a:latin typeface="Aptos" panose="020B0004020202020204" pitchFamily="34" charset="0"/>
              </a:rPr>
              <a:t>Analyzed how many restaurants fall under each price range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8: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Table Booking Percentage: </a:t>
            </a:r>
            <a:r>
              <a:rPr lang="en-US" sz="2000" dirty="0">
                <a:latin typeface="Aptos" panose="020B0004020202020204" pitchFamily="34" charset="0"/>
              </a:rPr>
              <a:t>Indicates dine-in convenience and customer preference levels.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9: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Online Delivery Percentage: </a:t>
            </a:r>
            <a:r>
              <a:rPr lang="en-US" sz="2000" dirty="0">
                <a:latin typeface="Aptos" panose="020B0004020202020204" pitchFamily="34" charset="0"/>
              </a:rPr>
              <a:t>Reflects digital adoption and growth of online food services.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10: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Cuisine, City, and Ratings Analysis: </a:t>
            </a:r>
            <a:r>
              <a:rPr lang="en-US" sz="2000" dirty="0">
                <a:latin typeface="Aptos" panose="020B0004020202020204" pitchFamily="34" charset="0"/>
              </a:rPr>
              <a:t>Analyzed cuisine popularity by city and rating levels. And identified high-performing cuisines and regional preferences.</a:t>
            </a:r>
          </a:p>
          <a:p>
            <a:r>
              <a:rPr lang="en-US" sz="2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KPI 11: </a:t>
            </a:r>
            <a:r>
              <a:rPr lang="en-US" sz="2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Dashboard Creation: </a:t>
            </a:r>
            <a:r>
              <a:rPr lang="en-US" sz="2000" dirty="0">
                <a:latin typeface="Aptos" panose="020B0004020202020204" pitchFamily="34" charset="0"/>
              </a:rPr>
              <a:t>Built interactive dashboards in Excel, Power BI, and Tableau.</a:t>
            </a:r>
          </a:p>
        </p:txBody>
      </p:sp>
    </p:spTree>
    <p:extLst>
      <p:ext uri="{BB962C8B-B14F-4D97-AF65-F5344CB8AC3E}">
        <p14:creationId xmlns:p14="http://schemas.microsoft.com/office/powerpoint/2010/main" val="116668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755B-1600-5F66-5599-2A512CC5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32" y="161318"/>
            <a:ext cx="4061348" cy="551914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Excel Dashboard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E9CF5-57D6-E55D-F07C-40D30DBC5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32" y="923544"/>
            <a:ext cx="11719336" cy="565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4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F3153-0A59-A656-30FD-6984C80D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3CFA-5CE8-C76E-3C6F-97A613F1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32" y="161318"/>
            <a:ext cx="4765436" cy="551914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Power BI Dashboard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1A04F-200A-1B82-E291-C7E1284DD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32" y="822960"/>
            <a:ext cx="11678300" cy="572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0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29DDB-FCD8-19BA-4036-990D9BDF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C29A-089E-CEA8-DC15-B0349A8D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32" y="161318"/>
            <a:ext cx="5176916" cy="551914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Tableau Dashboard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A03AF-2203-5C01-2C93-EB9486386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32" y="832104"/>
            <a:ext cx="11650868" cy="569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92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B1620-FED8-DA8D-5A99-26E7EA9C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9D2E-9DE2-1A5E-7F82-9B92BF20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32" y="161318"/>
            <a:ext cx="4966604" cy="402080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SQL (EMP case study) 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67E26E-1D35-A7DC-1491-754801F9F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713233"/>
            <a:ext cx="10789920" cy="2103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433145-FB8D-344C-A6CC-D60DCAD08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66189"/>
            <a:ext cx="10789920" cy="361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9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1A44B-E54A-A00D-7368-A9A1AAFA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50AC-E2B7-EF0E-7A90-FF964F74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32" y="161318"/>
            <a:ext cx="4966604" cy="433042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SQL (EMP case study) 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085F0-4E15-CF39-C9A9-A7B7B19A7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8" y="713233"/>
            <a:ext cx="11261026" cy="2450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765B0B-4F0A-4795-4863-FDDF9E837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8" y="3264561"/>
            <a:ext cx="11261026" cy="343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14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A422D-9B61-BB06-A56A-D111553B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02EF-6A58-C774-EEF5-986A0CC8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052" y="188750"/>
            <a:ext cx="4966604" cy="433042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SQL (EMP case study) 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EE419-1316-B1B2-B35A-2E6D452E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03" y="995457"/>
            <a:ext cx="10933873" cy="405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5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77E4-586B-B847-CBFF-9FE9CB6AF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F915-CD4F-C37E-2484-58C96717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052" y="188750"/>
            <a:ext cx="5186060" cy="433042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SQL (SALES case study) 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A1297-7EF4-B930-9883-933DFE3AE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40" y="766846"/>
            <a:ext cx="11291991" cy="2808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1A96F2-E761-272D-4525-EB2519BBA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40" y="3646331"/>
            <a:ext cx="11291990" cy="289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5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CDCED-09E4-C37F-0E08-FCA94DCE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3B08-44BF-8A4B-B68D-7DDD902E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052" y="188750"/>
            <a:ext cx="5186060" cy="433042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SQL (SALES case study) 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A43427-300B-1CB5-7E81-69EFA6211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52" y="772051"/>
            <a:ext cx="11467988" cy="2656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61A52-A238-0246-8FD3-91B11F67F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52" y="3579259"/>
            <a:ext cx="11467988" cy="297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46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A51D-1604-8383-E70C-EE4E8F1D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3AE5-A3B8-0DAC-C1F4-7A39D27C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052" y="188750"/>
            <a:ext cx="5186060" cy="433042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SQL (SALES case study) 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9AABE-9972-701B-4BF3-11D0B90D0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6" y="762279"/>
            <a:ext cx="11393972" cy="2666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F13523-F5B9-3D15-7C46-F3F688B20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56" y="3569487"/>
            <a:ext cx="11393972" cy="294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97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AFE0-A51F-1D81-F364-0E96B29C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685B-9451-DAE5-5024-C8B7C276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052" y="188750"/>
            <a:ext cx="5186060" cy="433042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SQL (SALES case study) </a:t>
            </a:r>
            <a:endParaRPr lang="en-IN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odoni MT Black" panose="02070A030806060202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D3584-CDD0-AC7A-8FB1-4DD35A09E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97" y="1130252"/>
            <a:ext cx="11287267" cy="243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7EA7-E7A1-AA14-B499-7859B3B5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5" y="207038"/>
            <a:ext cx="9905998" cy="725650"/>
          </a:xfrm>
        </p:spPr>
        <p:txBody>
          <a:bodyPr>
            <a:normAutofit/>
          </a:bodyPr>
          <a:lstStyle/>
          <a:p>
            <a:r>
              <a:rPr lang="en-IN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One-line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EDA39-2A6E-1A8C-41C6-A95A725D6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6" y="1079054"/>
            <a:ext cx="10946954" cy="513886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Total records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dirty="0">
                <a:latin typeface="Aptos" panose="020B0004020202020204" pitchFamily="34" charset="0"/>
              </a:rPr>
              <a:t>9,551 </a:t>
            </a:r>
            <a:r>
              <a:rPr lang="en-US" dirty="0">
                <a:latin typeface="Aptos" panose="020B0004020202020204" pitchFamily="34" charset="0"/>
              </a:rPr>
              <a:t>restaurants dataset</a:t>
            </a:r>
          </a:p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Core market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dirty="0">
                <a:latin typeface="Aptos" panose="020B0004020202020204" pitchFamily="34" charset="0"/>
              </a:rPr>
              <a:t>India</a:t>
            </a:r>
            <a:r>
              <a:rPr lang="en-US" dirty="0">
                <a:latin typeface="Aptos" panose="020B0004020202020204" pitchFamily="34" charset="0"/>
              </a:rPr>
              <a:t> dominates the dataset with majority of restaurants, followed by </a:t>
            </a:r>
            <a:r>
              <a:rPr lang="en-US" b="1" dirty="0">
                <a:latin typeface="Aptos" panose="020B0004020202020204" pitchFamily="34" charset="0"/>
              </a:rPr>
              <a:t>UAE, United Kingdom, and Turkey</a:t>
            </a:r>
            <a:r>
              <a:rPr lang="en-US" dirty="0">
                <a:latin typeface="Aptos" panose="020B0004020202020204" pitchFamily="34" charset="0"/>
              </a:rPr>
              <a:t>. </a:t>
            </a:r>
            <a:r>
              <a:rPr lang="en-US" sz="2100" dirty="0">
                <a:latin typeface="Aptos" panose="020B0004020202020204" pitchFamily="34" charset="0"/>
              </a:rPr>
              <a:t>(Emerging restaurant hubs include Dubai, London, and Doha, showing international Zomato penetration).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Top city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dirty="0">
                <a:latin typeface="Aptos" panose="020B0004020202020204" pitchFamily="34" charset="0"/>
              </a:rPr>
              <a:t>New Delhi  </a:t>
            </a:r>
            <a:r>
              <a:rPr lang="en-US" dirty="0">
                <a:latin typeface="Aptos" panose="020B0004020202020204" pitchFamily="34" charset="0"/>
              </a:rPr>
              <a:t>with highest number of restaurants, </a:t>
            </a:r>
          </a:p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Avg rating (</a:t>
            </a:r>
            <a:r>
              <a:rPr lang="en-US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approx</a:t>
            </a:r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)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dirty="0">
                <a:latin typeface="Aptos" panose="020B0004020202020204" pitchFamily="34" charset="0"/>
              </a:rPr>
              <a:t>2.9</a:t>
            </a:r>
            <a:r>
              <a:rPr lang="en-US" dirty="0">
                <a:latin typeface="Aptos" panose="020B0004020202020204" pitchFamily="34" charset="0"/>
              </a:rPr>
              <a:t> suggesting room for quality improvement. </a:t>
            </a:r>
          </a:p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Avg cost for two</a:t>
            </a:r>
            <a:r>
              <a:rPr lang="en-US" dirty="0">
                <a:latin typeface="Aptos" panose="020B0004020202020204" pitchFamily="34" charset="0"/>
              </a:rPr>
              <a:t>:  &lt;= $10 USD after currency conversion.</a:t>
            </a:r>
          </a:p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Booking &amp; delivery adoption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Table booking </a:t>
            </a:r>
            <a:r>
              <a:rPr lang="en-US" b="1" dirty="0">
                <a:latin typeface="Aptos" panose="020B0004020202020204" pitchFamily="34" charset="0"/>
              </a:rPr>
              <a:t>~12%, </a:t>
            </a:r>
            <a:r>
              <a:rPr lang="en-US" dirty="0">
                <a:latin typeface="Aptos" panose="020B0004020202020204" pitchFamily="34" charset="0"/>
              </a:rPr>
              <a:t>Online delivery </a:t>
            </a:r>
            <a:r>
              <a:rPr lang="en-US" b="1" dirty="0">
                <a:latin typeface="Aptos" panose="020B0004020202020204" pitchFamily="34" charset="0"/>
              </a:rPr>
              <a:t>~26%.</a:t>
            </a:r>
          </a:p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Cost buckets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~32% in 0–300, ~30% in 301–600, remainder skewed to lower-cost ranges. (</a:t>
            </a:r>
            <a:r>
              <a:rPr lang="en-US" sz="2100" dirty="0">
                <a:latin typeface="Aptos" panose="020B0004020202020204" pitchFamily="34" charset="0"/>
              </a:rPr>
              <a:t>large market for budget and casual dining.)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Cuisine Insight</a:t>
            </a:r>
            <a:r>
              <a:rPr lang="en-US" dirty="0">
                <a:latin typeface="Aptos" panose="020B0004020202020204" pitchFamily="34" charset="0"/>
              </a:rPr>
              <a:t>: </a:t>
            </a:r>
            <a:r>
              <a:rPr lang="en-US" b="1" dirty="0">
                <a:latin typeface="Aptos" panose="020B0004020202020204" pitchFamily="34" charset="0"/>
              </a:rPr>
              <a:t>North Indian </a:t>
            </a:r>
            <a:r>
              <a:rPr lang="en-US" dirty="0">
                <a:latin typeface="Aptos" panose="020B0004020202020204" pitchFamily="34" charset="0"/>
              </a:rPr>
              <a:t>cuisine leads the list, followed by Chinese, Fast Food, and Continental.</a:t>
            </a:r>
          </a:p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Openings peak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dirty="0">
                <a:latin typeface="Aptos" panose="020B0004020202020204" pitchFamily="34" charset="0"/>
              </a:rPr>
              <a:t>2015–2017; Q3 </a:t>
            </a:r>
            <a:r>
              <a:rPr lang="en-US" dirty="0">
                <a:latin typeface="Aptos" panose="020B0004020202020204" pitchFamily="34" charset="0"/>
              </a:rPr>
              <a:t>shows many openings.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03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FB64-CEDD-17B3-DE4D-E259ABFD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DA65-8F25-24AC-E813-ACC71A42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5" y="207038"/>
            <a:ext cx="9905998" cy="725650"/>
          </a:xfrm>
        </p:spPr>
        <p:txBody>
          <a:bodyPr>
            <a:normAutofit/>
          </a:bodyPr>
          <a:lstStyle/>
          <a:p>
            <a:r>
              <a:rPr lang="en-IN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949C9-E614-A2B2-8842-4BB1ACF50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6" y="1079054"/>
            <a:ext cx="10956098" cy="5349178"/>
          </a:xfrm>
        </p:spPr>
        <p:txBody>
          <a:bodyPr>
            <a:normAutofit fontScale="92500"/>
          </a:bodyPr>
          <a:lstStyle/>
          <a:p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Enhance digital integration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200" dirty="0">
                <a:latin typeface="Aptos" panose="020B0004020202020204" pitchFamily="34" charset="0"/>
              </a:rPr>
              <a:t>Focus on onboarding of restaurants for online delivery and table booking.</a:t>
            </a:r>
          </a:p>
          <a:p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Leverage cuisine insights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200" dirty="0">
                <a:latin typeface="Aptos" panose="020B0004020202020204" pitchFamily="34" charset="0"/>
              </a:rPr>
              <a:t>Promote top cuisines in targeted regions to drive local engagement.</a:t>
            </a:r>
          </a:p>
          <a:p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Improve service quality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200" dirty="0">
                <a:latin typeface="Aptos" panose="020B0004020202020204" pitchFamily="34" charset="0"/>
              </a:rPr>
              <a:t>Low average rating implies need for partner restaurant training or stricter quality filters.</a:t>
            </a:r>
          </a:p>
          <a:p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Target marketing by geography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200" dirty="0">
                <a:latin typeface="Aptos" panose="020B0004020202020204" pitchFamily="34" charset="0"/>
              </a:rPr>
              <a:t>Use city-level analysis to prioritize Zomato Gold or Pro membership in high-volume cities.</a:t>
            </a:r>
          </a:p>
          <a:p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Capitalize on cost segmentation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200" dirty="0">
                <a:latin typeface="Aptos" panose="020B0004020202020204" pitchFamily="34" charset="0"/>
              </a:rPr>
              <a:t>Tailor promotional offers to the large mid-range (0–600) customer base for better results.</a:t>
            </a:r>
          </a:p>
          <a:p>
            <a:pPr marL="0" indent="0" algn="ctr">
              <a:buNone/>
            </a:pPr>
            <a:r>
              <a:rPr lang="en-US" sz="2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By focusing on digital adoption, customer experience, and targeted pricing strategies, Zomato can continue to scale its restaurant ecosystem efficiently.</a:t>
            </a:r>
            <a:endParaRPr lang="en-IN" sz="26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702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34F8-C07D-1BBB-4130-E1FFC3F8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F50E-F821-F7B6-9ACE-2BBDB11E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5" y="207038"/>
            <a:ext cx="9905998" cy="725650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"Decoding the Best Tool for Your Data Story"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84909-6550-8455-1890-F1ED52D33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77" y="932688"/>
            <a:ext cx="10956098" cy="54132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i="1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EXCEL</a:t>
            </a:r>
          </a:p>
          <a:p>
            <a:pPr marL="0" indent="0">
              <a:buNone/>
            </a:pPr>
            <a:r>
              <a:rPr lang="en-US" sz="2200" b="1" dirty="0"/>
              <a:t>💡</a:t>
            </a:r>
            <a:r>
              <a:rPr lang="en-US" sz="2800" b="1" dirty="0"/>
              <a:t> </a:t>
            </a:r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What it is: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>
                <a:latin typeface="Aptos" panose="020B0004020202020204" pitchFamily="34" charset="0"/>
              </a:rPr>
              <a:t>Microsoft Excel is a </a:t>
            </a:r>
            <a:r>
              <a:rPr lang="en-US" sz="1900" b="1" dirty="0">
                <a:latin typeface="Aptos" panose="020B0004020202020204" pitchFamily="34" charset="0"/>
              </a:rPr>
              <a:t>spreadsheet tool </a:t>
            </a:r>
            <a:r>
              <a:rPr lang="en-US" sz="1900" dirty="0">
                <a:latin typeface="Aptos" panose="020B0004020202020204" pitchFamily="34" charset="0"/>
              </a:rPr>
              <a:t>primarily used for data entry, calculations, and small to medium-scale data analysis.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200" dirty="0"/>
              <a:t>🧠 </a:t>
            </a:r>
            <a:r>
              <a:rPr lang="en-IN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Core Strengths:</a:t>
            </a:r>
          </a:p>
          <a:p>
            <a:pPr>
              <a:lnSpc>
                <a:spcPct val="100000"/>
              </a:lnSpc>
            </a:pPr>
            <a:r>
              <a:rPr lang="en-US" sz="1900" dirty="0">
                <a:latin typeface="Aptos" panose="020B0004020202020204" pitchFamily="34" charset="0"/>
              </a:rPr>
              <a:t>Easy to learn, very familiar interface.</a:t>
            </a:r>
          </a:p>
          <a:p>
            <a:pPr>
              <a:lnSpc>
                <a:spcPct val="100000"/>
              </a:lnSpc>
            </a:pPr>
            <a:r>
              <a:rPr lang="en-US" sz="1900" dirty="0">
                <a:latin typeface="Aptos" panose="020B0004020202020204" pitchFamily="34" charset="0"/>
              </a:rPr>
              <a:t>Great for quick data cleaning, formulas, pivot tables, and charts.</a:t>
            </a:r>
          </a:p>
          <a:p>
            <a:pPr>
              <a:lnSpc>
                <a:spcPct val="100000"/>
              </a:lnSpc>
            </a:pPr>
            <a:r>
              <a:rPr lang="en-US" sz="1900" dirty="0">
                <a:latin typeface="Aptos" panose="020B0004020202020204" pitchFamily="34" charset="0"/>
              </a:rPr>
              <a:t>Flexible for basic dashboards using slicers and conditional formatting.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200" dirty="0"/>
              <a:t>⚠️ </a:t>
            </a:r>
            <a:r>
              <a:rPr lang="en-IN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Limitations:</a:t>
            </a:r>
          </a:p>
          <a:p>
            <a:pPr>
              <a:lnSpc>
                <a:spcPct val="100000"/>
              </a:lnSpc>
            </a:pPr>
            <a:r>
              <a:rPr lang="en-US" sz="1900" dirty="0">
                <a:latin typeface="Aptos" panose="020B0004020202020204" pitchFamily="34" charset="0"/>
              </a:rPr>
              <a:t>Not ideal for large datasets (slows down after ~1M rows).</a:t>
            </a:r>
          </a:p>
          <a:p>
            <a:pPr>
              <a:lnSpc>
                <a:spcPct val="100000"/>
              </a:lnSpc>
            </a:pPr>
            <a:r>
              <a:rPr lang="en-US" sz="1900" dirty="0">
                <a:latin typeface="Aptos" panose="020B0004020202020204" pitchFamily="34" charset="0"/>
              </a:rPr>
              <a:t>Manual updates — no live data connections (unless using Power Query).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/>
              <a:t>🧾</a:t>
            </a:r>
            <a:r>
              <a:rPr lang="en-US" sz="2000" b="1" dirty="0"/>
              <a:t> </a:t>
            </a:r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Best for:</a:t>
            </a:r>
          </a:p>
          <a:p>
            <a:r>
              <a:rPr lang="en-US" sz="1900" dirty="0">
                <a:latin typeface="Aptos" panose="020B0004020202020204" pitchFamily="34" charset="0"/>
              </a:rPr>
              <a:t>Small-scale reports, ad-hoc analysis, finance teams, or individuals working with structured data.</a:t>
            </a:r>
            <a:endParaRPr lang="en-IN" sz="3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921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C8AAC-461A-16E8-D450-D1A9FBEA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8954-B4CB-DBC1-EABF-4E07A025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5" y="207038"/>
            <a:ext cx="9905998" cy="725650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"Decoding the Best Tool for Your Data Story"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77B13-5661-52A7-19D0-882D9E07A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5" y="932688"/>
            <a:ext cx="10956098" cy="5413248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i="1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POWER BI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/>
              <a:t>💡</a:t>
            </a:r>
            <a:r>
              <a:rPr lang="en-US" sz="1800" b="1" dirty="0"/>
              <a:t> </a:t>
            </a:r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What it is: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Aptos" panose="020B0004020202020204" pitchFamily="34" charset="0"/>
              </a:rPr>
              <a:t>Power BI is Microsoft’s </a:t>
            </a:r>
            <a:r>
              <a:rPr lang="en-US" sz="1800" b="1" dirty="0">
                <a:latin typeface="Aptos" panose="020B0004020202020204" pitchFamily="34" charset="0"/>
              </a:rPr>
              <a:t>Business Intelligence (BI) platform </a:t>
            </a:r>
            <a:r>
              <a:rPr lang="en-US" sz="1800" dirty="0">
                <a:latin typeface="Aptos" panose="020B0004020202020204" pitchFamily="34" charset="0"/>
              </a:rPr>
              <a:t>for interactive dashboards and live reports.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🧠</a:t>
            </a:r>
            <a:r>
              <a:rPr lang="en-IN" sz="1800" dirty="0"/>
              <a:t> </a:t>
            </a:r>
            <a:r>
              <a:rPr lang="en-IN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Core Strengths: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Interactive dashboards with drill-downs and filters.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Auto-refresh and online sharing via Power BI Service.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Can handle millions of rows easily and Integrates seamlessly with Excel, SQL Server, Azure, etc.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⚠️</a:t>
            </a:r>
            <a:r>
              <a:rPr lang="en-IN" sz="1800" dirty="0"/>
              <a:t> </a:t>
            </a:r>
            <a:r>
              <a:rPr lang="en-IN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Limitations: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Visual customization is slightly limited compared to Tableau.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Needs some learning (DAX, Power Query concepts). DAX formulas enable advanced metrics and KPIs.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🧾</a:t>
            </a:r>
            <a:r>
              <a:rPr lang="en-US" sz="1800" b="1" dirty="0"/>
              <a:t> </a:t>
            </a:r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Best for: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Corporate dashboards, KPI tracking, automated reporting in Microsoft ecosystems.</a:t>
            </a:r>
          </a:p>
          <a:p>
            <a:endParaRPr lang="en-IN" sz="1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965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3F08C-3607-83B3-3586-9B99B47F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2674-AE0E-6E8C-4D25-E2CED47D2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5" y="207038"/>
            <a:ext cx="9905998" cy="725650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"Decoding the Best Tool for Your Data Story"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D0110-7D47-9D04-1790-1E88BB812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5" y="1014984"/>
            <a:ext cx="10956098" cy="5413248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i="1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TABLEAU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/>
              <a:t>💡</a:t>
            </a:r>
            <a:r>
              <a:rPr lang="en-US" sz="1800" b="1" dirty="0"/>
              <a:t> </a:t>
            </a:r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What it is: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Aptos" panose="020B0004020202020204" pitchFamily="34" charset="0"/>
              </a:rPr>
              <a:t>Tableau is a data visualization and analytics tool focused on visual storytelling and exploration.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🧠</a:t>
            </a:r>
            <a:r>
              <a:rPr lang="en-IN" sz="1800" dirty="0"/>
              <a:t> </a:t>
            </a:r>
            <a:r>
              <a:rPr lang="en-IN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Core Strengths: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Handles big data very efficiently and creates rich, beautiful visuals with design flexibility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Very strong in data exploration and pattern detection.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Supports drag-and-drop analytics with dynamic parameters.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⚠️</a:t>
            </a:r>
            <a:r>
              <a:rPr lang="en-IN" sz="1800" dirty="0"/>
              <a:t> </a:t>
            </a:r>
            <a:r>
              <a:rPr lang="en-IN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Limitations: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Aptos" panose="020B0004020202020204" pitchFamily="34" charset="0"/>
              </a:rPr>
              <a:t>Higher cost (enterprise-level). </a:t>
            </a:r>
          </a:p>
          <a:p>
            <a:pPr>
              <a:lnSpc>
                <a:spcPct val="100000"/>
              </a:lnSpc>
            </a:pPr>
            <a:r>
              <a:rPr lang="fr-FR" sz="1800" dirty="0">
                <a:latin typeface="Aptos" panose="020B0004020202020204" pitchFamily="34" charset="0"/>
              </a:rPr>
              <a:t>Collaboration </a:t>
            </a:r>
            <a:r>
              <a:rPr lang="fr-FR" sz="1800" dirty="0" err="1">
                <a:latin typeface="Aptos" panose="020B0004020202020204" pitchFamily="34" charset="0"/>
              </a:rPr>
              <a:t>requires</a:t>
            </a:r>
            <a:r>
              <a:rPr lang="fr-FR" sz="1800" dirty="0">
                <a:latin typeface="Aptos" panose="020B0004020202020204" pitchFamily="34" charset="0"/>
              </a:rPr>
              <a:t> Tableau Server or Tableau Cloud.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🧾</a:t>
            </a:r>
            <a:r>
              <a:rPr lang="en-US" sz="1800" b="1" dirty="0"/>
              <a:t> </a:t>
            </a:r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Best for: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ptos" panose="020B0004020202020204" pitchFamily="34" charset="0"/>
              </a:rPr>
              <a:t>Data analysts, data scientists, and enterprises focusing on storytelling, pattern analysis, and visuals.</a:t>
            </a:r>
          </a:p>
          <a:p>
            <a:endParaRPr lang="en-IN" sz="1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82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A9F29-2FEB-4DDC-27E5-BF439B86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FA10-49EA-3937-096F-447C7B7F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5" y="207038"/>
            <a:ext cx="9905998" cy="725650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"Decoding the Best Tool for Your Data Story"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3F2B9B-48CF-7A00-476D-A5C98404C3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220209"/>
              </p:ext>
            </p:extLst>
          </p:nvPr>
        </p:nvGraphicFramePr>
        <p:xfrm>
          <a:off x="859536" y="1170433"/>
          <a:ext cx="10213848" cy="318427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505456">
                  <a:extLst>
                    <a:ext uri="{9D8B030D-6E8A-4147-A177-3AD203B41FA5}">
                      <a16:colId xmlns:a16="http://schemas.microsoft.com/office/drawing/2014/main" val="441850554"/>
                    </a:ext>
                  </a:extLst>
                </a:gridCol>
                <a:gridCol w="2569464">
                  <a:extLst>
                    <a:ext uri="{9D8B030D-6E8A-4147-A177-3AD203B41FA5}">
                      <a16:colId xmlns:a16="http://schemas.microsoft.com/office/drawing/2014/main" val="2652150339"/>
                    </a:ext>
                  </a:extLst>
                </a:gridCol>
                <a:gridCol w="2569464">
                  <a:extLst>
                    <a:ext uri="{9D8B030D-6E8A-4147-A177-3AD203B41FA5}">
                      <a16:colId xmlns:a16="http://schemas.microsoft.com/office/drawing/2014/main" val="2355906193"/>
                    </a:ext>
                  </a:extLst>
                </a:gridCol>
                <a:gridCol w="2569464">
                  <a:extLst>
                    <a:ext uri="{9D8B030D-6E8A-4147-A177-3AD203B41FA5}">
                      <a16:colId xmlns:a16="http://schemas.microsoft.com/office/drawing/2014/main" val="2945290030"/>
                    </a:ext>
                  </a:extLst>
                </a:gridCol>
              </a:tblGrid>
              <a:tr h="295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Feature</a:t>
                      </a:r>
                      <a:r>
                        <a:rPr lang="en-IN" sz="1400" b="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 / </a:t>
                      </a: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Tool</a:t>
                      </a:r>
                      <a:endParaRPr lang="en-IN" sz="1400" b="0" kern="120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Power BI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Tableau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1449732427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Type</a:t>
                      </a:r>
                      <a:endParaRPr lang="en-IN" sz="1400" b="0" kern="120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Spreadsheet</a:t>
                      </a:r>
                      <a:endParaRPr lang="en-IN" sz="1400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BI &amp; Visualization</a:t>
                      </a:r>
                      <a:endParaRPr lang="en-IN" sz="1400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BI &amp; Visualization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610267010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Ease</a:t>
                      </a:r>
                      <a:r>
                        <a:rPr lang="en-IN" sz="1400" b="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 </a:t>
                      </a: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of</a:t>
                      </a:r>
                      <a:r>
                        <a:rPr lang="en-IN" sz="1400" b="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 </a:t>
                      </a: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Use</a:t>
                      </a:r>
                      <a:endParaRPr lang="en-IN" sz="1400" b="0" kern="120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⭐⭐⭐⭐⭐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⭐⭐⭐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⭐⭐</a:t>
                      </a: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2636953534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  <a:latin typeface="+mn-lt"/>
                          <a:ea typeface="+mn-ea"/>
                          <a:cs typeface="+mn-cs"/>
                        </a:rPr>
                        <a:t>Visual Quality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⭐⭐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⭐⭐⭐⭐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⭐⭐⭐⭐⭐</a:t>
                      </a: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2458097815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  <a:latin typeface="+mn-lt"/>
                          <a:ea typeface="+mn-ea"/>
                          <a:cs typeface="+mn-cs"/>
                        </a:rPr>
                        <a:t>Handles Big Data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1856993517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  <a:latin typeface="+mn-lt"/>
                          <a:ea typeface="+mn-ea"/>
                          <a:cs typeface="+mn-cs"/>
                        </a:rPr>
                        <a:t>Automation / Live Data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859551173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  <a:latin typeface="+mn-lt"/>
                          <a:ea typeface="+mn-ea"/>
                          <a:cs typeface="+mn-cs"/>
                        </a:rPr>
                        <a:t>Integration (MS tools)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⚙️ Limited</a:t>
                      </a: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2871970128"/>
                  </a:ext>
                </a:extLst>
              </a:tr>
              <a:tr h="52273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  <a:latin typeface="+mn-lt"/>
                          <a:ea typeface="+mn-ea"/>
                          <a:cs typeface="+mn-cs"/>
                        </a:rPr>
                        <a:t>Storytelling / Dashboards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⭐⭐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⭐⭐⭐⭐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⭐⭐⭐⭐⭐</a:t>
                      </a: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2018555988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  <a:latin typeface="+mn-lt"/>
                          <a:ea typeface="+mn-ea"/>
                          <a:cs typeface="+mn-cs"/>
                        </a:rPr>
                        <a:t>Cost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Moderate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4207430711"/>
                  </a:ext>
                </a:extLst>
              </a:tr>
              <a:tr h="2954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  <a:latin typeface="+mn-lt"/>
                          <a:ea typeface="+mn-ea"/>
                          <a:cs typeface="+mn-cs"/>
                        </a:rPr>
                        <a:t>Ideal User</a:t>
                      </a: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Beginners / Finance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Business Users / Analysts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Analysts / Data Scientists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2365" marR="82365" marT="41183" marB="41183" anchor="ctr"/>
                </a:tc>
                <a:extLst>
                  <a:ext uri="{0D108BD9-81ED-4DB2-BD59-A6C34878D82A}">
                    <a16:rowId xmlns:a16="http://schemas.microsoft.com/office/drawing/2014/main" val="145449309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9A18B1-366C-D070-FC94-6B435E4C3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446591"/>
              </p:ext>
            </p:extLst>
          </p:nvPr>
        </p:nvGraphicFramePr>
        <p:xfrm>
          <a:off x="859536" y="4706144"/>
          <a:ext cx="10277856" cy="13716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138928">
                  <a:extLst>
                    <a:ext uri="{9D8B030D-6E8A-4147-A177-3AD203B41FA5}">
                      <a16:colId xmlns:a16="http://schemas.microsoft.com/office/drawing/2014/main" val="3930574908"/>
                    </a:ext>
                  </a:extLst>
                </a:gridCol>
                <a:gridCol w="5138928">
                  <a:extLst>
                    <a:ext uri="{9D8B030D-6E8A-4147-A177-3AD203B41FA5}">
                      <a16:colId xmlns:a16="http://schemas.microsoft.com/office/drawing/2014/main" val="18800256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Your Goal</a:t>
                      </a:r>
                      <a:endParaRPr lang="en-IN" sz="1800" b="1" kern="120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cap="none" spc="0" dirty="0">
                          <a:ln w="0"/>
                          <a:gradFill>
                            <a:gsLst>
                              <a:gs pos="0">
                                <a:schemeClr val="accent5">
                                  <a:lumMod val="50000"/>
                                </a:schemeClr>
                              </a:gs>
                              <a:gs pos="50000">
                                <a:schemeClr val="accent5"/>
                              </a:gs>
                              <a:gs pos="100000">
                                <a:schemeClr val="accent5">
                                  <a:lumMod val="60000"/>
                                  <a:lumOff val="4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reflection blurRad="6350" stA="53000" endA="300" endPos="35500" dir="5400000" sy="-90000" algn="bl" rotWithShape="0"/>
                          </a:effectLst>
                        </a:rPr>
                        <a:t>Recommended Tool</a:t>
                      </a:r>
                      <a:endParaRPr lang="en-IN" sz="1800" b="1" kern="1200" cap="none" spc="0" dirty="0">
                        <a:ln w="0"/>
                        <a:gradFill>
                          <a:gsLst>
                            <a:gs pos="0">
                              <a:schemeClr val="accent5">
                                <a:lumMod val="50000"/>
                              </a:schemeClr>
                            </a:gs>
                            <a:gs pos="50000">
                              <a:schemeClr val="accent5"/>
                            </a:gs>
                            <a:gs pos="100000">
                              <a:schemeClr val="accent5">
                                <a:lumMod val="60000"/>
                                <a:lumOff val="40000"/>
                              </a:schemeClr>
                            </a:gs>
                          </a:gsLst>
                          <a:lin ang="5400000"/>
                        </a:gradFill>
                        <a:effectLst>
                          <a:reflection blurRad="6350" stA="53000" endA="300" endPos="35500" dir="5400000" sy="-90000" algn="bl" rotWithShape="0"/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995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Simple data analysis, formulas, pivots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EXCEL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93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Corporate dashboards, automation, real-time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POWER BI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8432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Advanced analytics, storytelling, deep data visuals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TABLEAU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592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790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DF348-D072-DF0A-781F-0FF64402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B21F-6ACE-4890-F82D-7CBC0F3A4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5" y="207038"/>
            <a:ext cx="9905998" cy="725650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odoni MT Black" panose="02070A03080606020203" pitchFamily="18" charset="0"/>
              </a:rPr>
              <a:t>"Decoding the Best Tool for Your Data Story"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D3288-7C87-FD45-ACE8-4598028DD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5" y="932688"/>
            <a:ext cx="10956098" cy="5413248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i="1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SQL (Structured Query Language)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/>
              <a:t>💡</a:t>
            </a:r>
            <a:r>
              <a:rPr lang="en-US" sz="1800" b="1" dirty="0"/>
              <a:t> </a:t>
            </a:r>
            <a:r>
              <a:rPr lang="en-US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What it is: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latin typeface="Aptos" panose="020B0004020202020204" pitchFamily="34" charset="0"/>
              </a:rPr>
              <a:t>SQL (Structured Query Language) is the standard language for managing and analyzing data stored in relational databases. </a:t>
            </a:r>
          </a:p>
          <a:p>
            <a:pPr lvl="1">
              <a:lnSpc>
                <a:spcPct val="130000"/>
              </a:lnSpc>
            </a:pPr>
            <a:r>
              <a:rPr lang="en-US" sz="1400" dirty="0">
                <a:latin typeface="Aptos" panose="020B0004020202020204" pitchFamily="34" charset="0"/>
              </a:rPr>
              <a:t>It stores, retrieve, update and delete data in database.</a:t>
            </a:r>
          </a:p>
          <a:p>
            <a:pPr lvl="1">
              <a:lnSpc>
                <a:spcPct val="130000"/>
              </a:lnSpc>
            </a:pPr>
            <a:r>
              <a:rPr lang="en-US" sz="1400" dirty="0">
                <a:latin typeface="Aptos" panose="020B0004020202020204" pitchFamily="34" charset="0"/>
              </a:rPr>
              <a:t> </a:t>
            </a:r>
            <a:r>
              <a:rPr lang="en-US" sz="1400" dirty="0" err="1">
                <a:latin typeface="Aptos" panose="020B0004020202020204" pitchFamily="34" charset="0"/>
              </a:rPr>
              <a:t>Analyse</a:t>
            </a:r>
            <a:r>
              <a:rPr lang="en-US" sz="1400" dirty="0">
                <a:latin typeface="Aptos" panose="020B0004020202020204" pitchFamily="34" charset="0"/>
              </a:rPr>
              <a:t> data using queries and aggregations and manages database structure.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🧠</a:t>
            </a:r>
            <a:r>
              <a:rPr lang="en-IN" sz="1800" dirty="0"/>
              <a:t> </a:t>
            </a:r>
            <a:r>
              <a:rPr lang="en-IN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ptos" panose="020B0004020202020204" pitchFamily="34" charset="0"/>
              </a:rPr>
              <a:t>Core Strengths:</a:t>
            </a:r>
          </a:p>
          <a:p>
            <a:r>
              <a:rPr lang="en-US" sz="1600" dirty="0">
                <a:latin typeface="Aptos" panose="020B0004020202020204" pitchFamily="34" charset="0"/>
              </a:rPr>
              <a:t>SQL uses simple English-like syntax (SELECT, FROM, WHERE) — easy to read and write even for beginners.</a:t>
            </a:r>
          </a:p>
          <a:p>
            <a:r>
              <a:rPr lang="en-US" sz="1600" dirty="0">
                <a:latin typeface="Aptos" panose="020B0004020202020204" pitchFamily="34" charset="0"/>
              </a:rPr>
              <a:t>You can quickly fetch and filter millions of records using optimized queries.</a:t>
            </a:r>
          </a:p>
          <a:p>
            <a:r>
              <a:rPr lang="en-US" sz="1600" dirty="0">
                <a:latin typeface="Aptos" panose="020B0004020202020204" pitchFamily="34" charset="0"/>
              </a:rPr>
              <a:t>SQL can perform complex calculations, summarizations, and comparisons — making it ideal for analysts.</a:t>
            </a:r>
          </a:p>
          <a:p>
            <a:r>
              <a:rPr lang="en-US" sz="1600" dirty="0">
                <a:latin typeface="Aptos" panose="020B0004020202020204" pitchFamily="34" charset="0"/>
              </a:rPr>
              <a:t>Works with most BI tools like Power BI, Tableau, and Excel, enabling seamless data connection and visualization.</a:t>
            </a:r>
          </a:p>
          <a:p>
            <a:r>
              <a:rPr lang="en-US" sz="1600" dirty="0">
                <a:latin typeface="Aptos" panose="020B0004020202020204" pitchFamily="34" charset="0"/>
              </a:rPr>
              <a:t>SQL queries help transform raw data into actionable insights for business intelligence.</a:t>
            </a:r>
          </a:p>
          <a:p>
            <a:r>
              <a:rPr lang="en-US" sz="1600" dirty="0">
                <a:latin typeface="Aptos" panose="020B0004020202020204" pitchFamily="34" charset="0"/>
              </a:rPr>
              <a:t>Works across many systems (MySQL, SQL Server, Oracle, PostgreSQL, SQLite).</a:t>
            </a:r>
            <a:endParaRPr lang="en-IN" sz="1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716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31C13C-A8C6-05BD-AB7E-BBEDC873C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16024" y="877824"/>
            <a:ext cx="8759952" cy="45628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96101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1035</TotalTime>
  <Words>1291</Words>
  <Application>Microsoft Office PowerPoint</Application>
  <PresentationFormat>Widescreen</PresentationFormat>
  <Paragraphs>163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Bodoni MT Black</vt:lpstr>
      <vt:lpstr>Britannic Bold</vt:lpstr>
      <vt:lpstr>Tw Cen MT</vt:lpstr>
      <vt:lpstr>Circuit</vt:lpstr>
      <vt:lpstr>Zomato Restaurant Insights Dashboard:  A Global Analysis</vt:lpstr>
      <vt:lpstr>INTRODUCTION</vt:lpstr>
      <vt:lpstr>KPIS</vt:lpstr>
      <vt:lpstr>Excel Dashboard</vt:lpstr>
      <vt:lpstr>Power BI Dashboard</vt:lpstr>
      <vt:lpstr>Tableau Dashboard</vt:lpstr>
      <vt:lpstr>SQL (EMP case study) </vt:lpstr>
      <vt:lpstr>SQL (EMP case study) </vt:lpstr>
      <vt:lpstr>SQL (EMP case study) </vt:lpstr>
      <vt:lpstr>SQL (SALES case study) </vt:lpstr>
      <vt:lpstr>SQL (SALES case study) </vt:lpstr>
      <vt:lpstr>SQL (SALES case study) </vt:lpstr>
      <vt:lpstr>SQL (SALES case study) </vt:lpstr>
      <vt:lpstr>One-line Summary</vt:lpstr>
      <vt:lpstr>Strategic Recommendations</vt:lpstr>
      <vt:lpstr>"Decoding the Best Tool for Your Data Story"</vt:lpstr>
      <vt:lpstr>"Decoding the Best Tool for Your Data Story"</vt:lpstr>
      <vt:lpstr>"Decoding the Best Tool for Your Data Story"</vt:lpstr>
      <vt:lpstr>"Decoding the Best Tool for Your Data Story"</vt:lpstr>
      <vt:lpstr>"Decoding the Best Tool for Your Data Story"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vidya.pagidala@outlook.com</dc:creator>
  <cp:lastModifiedBy>Bhumika Kalikivayee</cp:lastModifiedBy>
  <cp:revision>2</cp:revision>
  <dcterms:created xsi:type="dcterms:W3CDTF">2025-10-27T11:58:06Z</dcterms:created>
  <dcterms:modified xsi:type="dcterms:W3CDTF">2025-12-17T10:55:18Z</dcterms:modified>
</cp:coreProperties>
</file>